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embeddedFontLst>
    <p:embeddedFont>
      <p:font typeface="DM Sans"/>
      <p:regular r:id="rId201314"/>
    </p:embeddedFont>
    <p:embeddedFont>
      <p:font typeface="DM Sans Medium"/>
      <p:regular r:id="rId201315"/>
    </p:embeddedFont>
    <p:embeddedFont>
      <p:font typeface="DM Sans Bold"/>
      <p:regular r:id="rId201316"/>
    </p:embeddedFont>
    <p:embeddedFont>
      <p:font typeface="Inter Medium"/>
      <p:regular r:id="rId201317"/>
    </p:embeddedFont>
    <p:embeddedFont>
      <p:font typeface="Inter Bold"/>
      <p:regular r:id="rId201318"/>
    </p:embeddedFont>
    <p:embeddedFont>
      <p:font typeface="Inter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image" Target="../media/image-3-1.png"/><Relationship Id="rId8" Type="http://schemas.openxmlformats.org/officeDocument/2006/relationships/image" Target="../media/image-3-2.sv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7.png"/><Relationship Id="rId10" Type="http://schemas.openxmlformats.org/officeDocument/2006/relationships/image" Target="../media/image-4-8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9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svg"/><Relationship Id="rId4" Type="http://schemas.openxmlformats.org/officeDocument/2006/relationships/image" Target="../media/image-13-2.png"/><Relationship Id="rId5" Type="http://schemas.openxmlformats.org/officeDocument/2006/relationships/image" Target="../media/image-13-3.svg"/><Relationship Id="rId6" Type="http://schemas.openxmlformats.org/officeDocument/2006/relationships/image" Target="../media/image-13-2.png"/><Relationship Id="rId7" Type="http://schemas.openxmlformats.org/officeDocument/2006/relationships/image" Target="../media/image-13-3.svg"/><Relationship Id="rId8" Type="http://schemas.openxmlformats.org/officeDocument/2006/relationships/image" Target="../media/image-13-2.png"/><Relationship Id="rId9" Type="http://schemas.openxmlformats.org/officeDocument/2006/relationships/image" Target="../media/image-13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1.png"/><Relationship Id="rId4" Type="http://schemas.openxmlformats.org/officeDocument/2006/relationships/image" Target="../media/image-14-2.svg"/><Relationship Id="rId5" Type="http://schemas.openxmlformats.org/officeDocument/2006/relationships/image" Target="../media/image-14-1.png"/><Relationship Id="rId6" Type="http://schemas.openxmlformats.org/officeDocument/2006/relationships/image" Target="../media/image-14-2.svg"/><Relationship Id="rId7" Type="http://schemas.openxmlformats.org/officeDocument/2006/relationships/image" Target="../media/image-14-1.png"/><Relationship Id="rId8" Type="http://schemas.openxmlformats.org/officeDocument/2006/relationships/image" Target="../media/image-14-2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image" Target="../media/image-14-9.png"/><Relationship Id="rId12" Type="http://schemas.openxmlformats.org/officeDocument/2006/relationships/image" Target="../media/image-14-10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1.png"/><Relationship Id="rId4" Type="http://schemas.openxmlformats.org/officeDocument/2006/relationships/image" Target="../media/image-15-2.svg"/><Relationship Id="rId5" Type="http://schemas.openxmlformats.org/officeDocument/2006/relationships/image" Target="../media/image-15-1.png"/><Relationship Id="rId6" Type="http://schemas.openxmlformats.org/officeDocument/2006/relationships/image" Target="../media/image-15-2.svg"/><Relationship Id="rId7" Type="http://schemas.openxmlformats.org/officeDocument/2006/relationships/image" Target="../media/image-15-1.png"/><Relationship Id="rId8" Type="http://schemas.openxmlformats.org/officeDocument/2006/relationships/image" Target="../media/image-15-2.svg"/><Relationship Id="rId9" Type="http://schemas.openxmlformats.org/officeDocument/2006/relationships/image" Target="../media/image-15-9.png"/><Relationship Id="rId10" Type="http://schemas.openxmlformats.org/officeDocument/2006/relationships/image" Target="../media/image-15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146795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Engineering Masterclass 002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1583903"/>
            <a:ext cx="4722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Career Intelligence Copilot — FR-017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96119" y="1963787"/>
            <a:ext cx="4722763" cy="1069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Agent Evaluation &amp; Observability</a:t>
            </a:r>
            <a:endParaRPr lang="en-US" sz="3350" dirty="0"/>
          </a:p>
        </p:txBody>
      </p:sp>
      <p:sp>
        <p:nvSpPr>
          <p:cNvPr id="6" name="Text 3"/>
          <p:cNvSpPr/>
          <p:nvPr/>
        </p:nvSpPr>
        <p:spPr>
          <a:xfrm>
            <a:off x="496119" y="3219599"/>
            <a:ext cx="5179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Derive-Only Metrics, Reconstructability, and Anti-Theatre Observability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96119" y="3557588"/>
            <a:ext cx="1863105" cy="188565"/>
          </a:xfrm>
          <a:prstGeom prst="roundRect">
            <a:avLst>
              <a:gd name="adj" fmla="val 7894"/>
            </a:avLst>
          </a:prstGeom>
          <a:solidFill>
            <a:srgbClr val="110745"/>
          </a:solidFill>
          <a:ln/>
        </p:spPr>
      </p:sp>
      <p:sp>
        <p:nvSpPr>
          <p:cNvPr id="8" name="Text 5"/>
          <p:cNvSpPr/>
          <p:nvPr/>
        </p:nvSpPr>
        <p:spPr>
          <a:xfrm>
            <a:off x="570533" y="3594795"/>
            <a:ext cx="2171477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 LEARNING ACADEMY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2421210" y="3557588"/>
            <a:ext cx="834777" cy="188565"/>
          </a:xfrm>
          <a:prstGeom prst="roundRect">
            <a:avLst>
              <a:gd name="adj" fmla="val 7894"/>
            </a:avLst>
          </a:prstGeom>
          <a:noFill/>
          <a:ln w="4763">
            <a:solidFill>
              <a:srgbClr val="AC9E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95624" y="3594795"/>
            <a:ext cx="1143149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LEAN EDITION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96119" y="3808140"/>
            <a:ext cx="2232496" cy="188565"/>
          </a:xfrm>
          <a:prstGeom prst="roundRect">
            <a:avLst>
              <a:gd name="adj" fmla="val 7894"/>
            </a:avLst>
          </a:prstGeom>
          <a:noFill/>
          <a:ln w="4763">
            <a:solidFill>
              <a:srgbClr val="AC9E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0533" y="3845347"/>
            <a:ext cx="2540868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COMPLETE / FROZEN / ACCEPTED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06661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591866"/>
            <a:ext cx="4347270" cy="169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FR-017 answers a deceptively simple question: once a multi-agent orchestration layer has written honest audit records, how do you </a:t>
            </a:r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evaluate</a:t>
            </a:r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those records without inventing an observability product?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accepted answer is a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narrow derive-only evaluation substrate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Existing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OrchestrationRun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Handoff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child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AgentRun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artefacts are the only evidence. Pure functions derive metrics, correlate parent/child execution, and score reconstructability against twelve fixed questions (R1–R12).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61421" y="1480245"/>
            <a:ext cx="3680445" cy="1922562"/>
          </a:xfrm>
          <a:prstGeom prst="roundRect">
            <a:avLst>
              <a:gd name="adj" fmla="val 968"/>
            </a:avLst>
          </a:prstGeom>
          <a:solidFill>
            <a:srgbClr val="AC9EF5"/>
          </a:solidFill>
          <a:ln/>
        </p:spPr>
      </p:sp>
      <p:sp>
        <p:nvSpPr>
          <p:cNvPr id="5" name="Text 3"/>
          <p:cNvSpPr/>
          <p:nvPr/>
        </p:nvSpPr>
        <p:spPr>
          <a:xfrm>
            <a:off x="5185395" y="1604218"/>
            <a:ext cx="343249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Core Posture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185395" y="1922041"/>
            <a:ext cx="3432497" cy="1165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near-term product value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learning and interview value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mutates the runtime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becomes a second system of record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Horizon 1B is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gated on this work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96119" y="3542333"/>
            <a:ext cx="8151763" cy="694432"/>
          </a:xfrm>
          <a:prstGeom prst="roundRect">
            <a:avLst>
              <a:gd name="adj" fmla="val 2679"/>
            </a:avLst>
          </a:prstGeom>
          <a:solidFill>
            <a:srgbClr val="1D0C7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3722117"/>
            <a:ext cx="155004" cy="12397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9071" y="3697263"/>
            <a:ext cx="7624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engineering win: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Honesty under uncertainty — especially the distinction between </a:t>
            </a:r>
            <a:pPr algn="l" indent="0" marL="0">
              <a:lnSpc>
                <a:spcPct val="133000"/>
              </a:lnSpc>
              <a:buNone/>
            </a:pPr>
            <a:r>
              <a:rPr lang="en-US" sz="95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metadata and </a:t>
            </a:r>
            <a:pPr algn="l" indent="0" marL="0">
              <a:lnSpc>
                <a:spcPct val="133000"/>
              </a:lnSpc>
              <a:buNone/>
            </a:pPr>
            <a:r>
              <a:rPr lang="en-US" sz="95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zero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the refusal to repair contradictory audits.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2454"/>
            <a:ext cx="8151763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Engineering Problem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964332"/>
            <a:ext cx="815176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FR-016, Career Intelligence Copilot had orchestration audits: parent runs, typed handoffs, stop reasons, child agent runs, and resume/idempotency keys. What it lacked was a first-class way to </a:t>
            </a:r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</a:t>
            </a:r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those audits as evaluation evidence.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487239"/>
            <a:ext cx="4015755" cy="12875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12429" y="1570211"/>
            <a:ext cx="18313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32445" y="1987972"/>
            <a:ext cx="3743102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Reconstruct Authority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32445" y="2250802"/>
            <a:ext cx="3743102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I reconstruct the authority story of a run without reading source code?</a:t>
            </a:r>
            <a:endParaRPr lang="en-US" sz="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2052" y="1487239"/>
            <a:ext cx="4015829" cy="12875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48363" y="1570211"/>
            <a:ext cx="18313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768379" y="1987972"/>
            <a:ext cx="3743176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Offline Comparison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768379" y="2250802"/>
            <a:ext cx="374317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I compare runs offline, deterministically, without a live LLM?</a:t>
            </a:r>
            <a:endParaRPr lang="en-US" sz="9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895005"/>
            <a:ext cx="4015755" cy="128758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412429" y="2977976"/>
            <a:ext cx="18313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32445" y="3395737"/>
            <a:ext cx="3743102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Missing vs. Zero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32445" y="3658567"/>
            <a:ext cx="3743102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tokens or cost are absent, is that "zero usage" or "unknown"?</a:t>
            </a:r>
            <a:endParaRPr lang="en-US" sz="9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2052" y="2895005"/>
            <a:ext cx="4015829" cy="128758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48363" y="2977976"/>
            <a:ext cx="18313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4768379" y="3395737"/>
            <a:ext cx="3743176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Honest Gaps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768379" y="3658567"/>
            <a:ext cx="3743176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 child id does not join cleanly to a handoff, do we invent linkage or surface the gap?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496119" y="4317802"/>
            <a:ext cx="8151763" cy="483171"/>
          </a:xfrm>
          <a:prstGeom prst="roundRect">
            <a:avLst>
              <a:gd name="adj" fmla="val 3791"/>
            </a:avLst>
          </a:prstGeom>
          <a:solidFill>
            <a:srgbClr val="1D0C74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158" y="4492154"/>
            <a:ext cx="152623" cy="12203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92820" y="4468490"/>
            <a:ext cx="80902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are </a:t>
            </a:r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evidence, semantics, and source-of-truth</a:t>
            </a:r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problems — not "add Prometheus" or "build a Grafana board" problems.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8688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Why Previous Approaches Were Insufficient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094259"/>
            <a:ext cx="2634555" cy="19294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1530" y="1232520"/>
            <a:ext cx="230088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Laundry-List Observability FR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91530" y="1694631"/>
            <a:ext cx="2300883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Traces, checkpoints, dashboards, richer telemetry — most already owned by FR-008, FR-014, FR-015, FR-016. Building the catalogue would have duplicated frozen work and delayed Horizon 1B for no acquisition gain.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4648" y="1094259"/>
            <a:ext cx="2634630" cy="19294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50059" y="1232520"/>
            <a:ext cx="230095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Instrument the Runtime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450059" y="1500783"/>
            <a:ext cx="2300957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Adding events until every chart is easy fails the derive-only gate. If evaluation requires new runtime events, you're evaluating a redesigned system — not the current one.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13252" y="1094259"/>
            <a:ext cx="2634555" cy="19294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08663" y="1232520"/>
            <a:ext cx="23008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Fork Child Metrics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208663" y="1500783"/>
            <a:ext cx="2300883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BOPA already had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AgentRunMetrics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careful missing-vs-zero semantics. Re-implementing inside FR-017 creates two competing definitions of the same facts.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147640"/>
            <a:ext cx="2634555" cy="153709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1530" y="3285902"/>
            <a:ext cx="23008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Dashboards as Proof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91530" y="3554164"/>
            <a:ext cx="2300883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board plotting "latency = 0" for runs that never recorded latency converts absence into fake precision. Dashboards create the </a:t>
            </a:r>
            <a:pPr algn="l" indent="0" marL="0">
              <a:lnSpc>
                <a:spcPct val="133000"/>
              </a:lnSpc>
              <a:buNone/>
            </a:pPr>
            <a:r>
              <a:rPr lang="en-US" sz="950" i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feeling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control — not reconstructability.</a:t>
            </a:r>
            <a:endParaRPr lang="en-US" sz="9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54648" y="3147640"/>
            <a:ext cx="2634630" cy="153709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450059" y="3285902"/>
            <a:ext cx="230095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Block Horizon 1B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3450059" y="3554164"/>
            <a:ext cx="2300957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Coupling recruiter outreach to FR-017 inverts sequencing priorities. Evaluation substrate improves learning; it does not improve application throughput.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80876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Ownership Matrix — What FR-017 Does Not Own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216447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FR-017's scope is deliberately narrow. Understanding what it </a:t>
            </a:r>
            <a:pPr algn="l" indent="0" marL="0">
              <a:lnSpc>
                <a:spcPct val="133000"/>
              </a:lnSpc>
              <a:buNone/>
            </a:pPr>
            <a:r>
              <a:rPr lang="en-US" sz="950" i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not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own is as important as understanding what it does.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554435"/>
            <a:ext cx="8151763" cy="2174230"/>
          </a:xfrm>
          <a:prstGeom prst="roundRect">
            <a:avLst>
              <a:gd name="adj" fmla="val 856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1918395"/>
            <a:ext cx="8151763" cy="775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279972"/>
            <a:ext cx="8151763" cy="775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641550"/>
            <a:ext cx="8151763" cy="775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003128"/>
            <a:ext cx="8151763" cy="775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3364706"/>
            <a:ext cx="8151763" cy="775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0955" y="1559198"/>
            <a:ext cx="2442642" cy="359197"/>
          </a:xfrm>
          <a:custGeom>
            <a:avLst/>
            <a:gdLst/>
            <a:ahLst/>
            <a:cxnLst/>
            <a:rect l="l" t="t" r="r" b="b"/>
            <a:pathLst>
              <a:path w="2442642" h="359197">
                <a:moveTo>
                  <a:pt x="15506" y="0"/>
                </a:moveTo>
                <a:lnTo>
                  <a:pt x="2442642" y="0"/>
                </a:lnTo>
                <a:lnTo>
                  <a:pt x="2442642" y="359197"/>
                </a:lnTo>
                <a:lnTo>
                  <a:pt x="0" y="359197"/>
                </a:lnTo>
                <a:lnTo>
                  <a:pt x="0" y="15506"/>
                </a:lnTo>
                <a:arcTo hR="15506" wR="15506" stAng="10800000" swAng="5400000"/>
                <a:close/>
              </a:path>
            </a:pathLst>
          </a:custGeom>
          <a:solidFill>
            <a:srgbClr val="AC9EF5"/>
          </a:solidFill>
          <a:ln/>
        </p:spPr>
      </p:sp>
      <p:sp>
        <p:nvSpPr>
          <p:cNvPr id="11" name="Text 9"/>
          <p:cNvSpPr/>
          <p:nvPr/>
        </p:nvSpPr>
        <p:spPr>
          <a:xfrm>
            <a:off x="624929" y="1638374"/>
            <a:ext cx="265189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Concern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43597" y="1559198"/>
            <a:ext cx="2035522" cy="359197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13" name="Text 11"/>
          <p:cNvSpPr/>
          <p:nvPr/>
        </p:nvSpPr>
        <p:spPr>
          <a:xfrm>
            <a:off x="3067571" y="1638374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Owner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79119" y="1559198"/>
            <a:ext cx="3664000" cy="359197"/>
          </a:xfrm>
          <a:custGeom>
            <a:avLst/>
            <a:gdLst/>
            <a:ahLst/>
            <a:cxnLst/>
            <a:rect l="l" t="t" r="r" b="b"/>
            <a:pathLst>
              <a:path w="3664000" h="359197">
                <a:moveTo>
                  <a:pt x="0" y="0"/>
                </a:moveTo>
                <a:lnTo>
                  <a:pt x="3648494" y="0"/>
                </a:lnTo>
                <a:arcTo hR="15506" wR="15506" stAng="16200000" swAng="5400000"/>
                <a:lnTo>
                  <a:pt x="3664000" y="359197"/>
                </a:lnTo>
                <a:lnTo>
                  <a:pt x="0" y="359197"/>
                </a:lnTo>
                <a:lnTo>
                  <a:pt x="0" y="0"/>
                </a:lnTo>
                <a:close/>
              </a:path>
            </a:pathLst>
          </a:custGeom>
          <a:solidFill>
            <a:srgbClr val="AC9EF5"/>
          </a:solidFill>
          <a:ln/>
        </p:spPr>
      </p:sp>
      <p:sp>
        <p:nvSpPr>
          <p:cNvPr id="15" name="Text 13"/>
          <p:cNvSpPr/>
          <p:nvPr/>
        </p:nvSpPr>
        <p:spPr>
          <a:xfrm>
            <a:off x="5103093" y="1638374"/>
            <a:ext cx="387325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FR-017 Role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4929" y="1999952"/>
            <a:ext cx="265189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traces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067571" y="1999952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FR-008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103093" y="1999952"/>
            <a:ext cx="387325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4929" y="2361530"/>
            <a:ext cx="265189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Truth engine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067571" y="2361530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FR-014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103093" y="2361530"/>
            <a:ext cx="387325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Cite status only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4929" y="2723108"/>
            <a:ext cx="265189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BOPA / AgentRun metrics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067571" y="2723108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FR-015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103093" y="2723108"/>
            <a:ext cx="387325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Reuse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4929" y="3084686"/>
            <a:ext cx="265189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Orchestration audits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067571" y="3084686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FR-016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103093" y="3084686"/>
            <a:ext cx="387325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records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4929" y="3446264"/>
            <a:ext cx="265189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Derive, correlate, evaluate, present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067571" y="3446264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FR-017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103093" y="3446264"/>
            <a:ext cx="387325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Evaluation only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96119" y="3868192"/>
            <a:ext cx="8151763" cy="694432"/>
          </a:xfrm>
          <a:prstGeom prst="roundRect">
            <a:avLst>
              <a:gd name="adj" fmla="val 2679"/>
            </a:avLst>
          </a:prstGeom>
          <a:solidFill>
            <a:srgbClr val="1D0C74"/>
          </a:solidFill>
          <a:ln/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4047976"/>
            <a:ext cx="155004" cy="123974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899071" y="4023122"/>
            <a:ext cx="7624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Crossing ownership boundaries creates twin definitions and silent drift. FR-017 evaluates — it does not become a system of record.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52127"/>
            <a:ext cx="8151763" cy="284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Chosen Architecture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496119" y="770558"/>
            <a:ext cx="8608963" cy="101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architecture is deliberately boring. That is the point.</a:t>
            </a:r>
            <a:endParaRPr lang="en-US" sz="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946845"/>
            <a:ext cx="8151763" cy="36682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24067" y="1199134"/>
            <a:ext cx="1426538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Handoff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724067" y="1482286"/>
            <a:ext cx="1426538" cy="152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 run artefacts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134929" y="3950315"/>
            <a:ext cx="1434376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Derivation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134929" y="4233467"/>
            <a:ext cx="1434376" cy="152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 metrics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30115" y="1171701"/>
            <a:ext cx="1426538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Reconstruct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530115" y="1454853"/>
            <a:ext cx="1426538" cy="152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R1–R12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0977" y="3950315"/>
            <a:ext cx="1426539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Read-only CLI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940977" y="4233467"/>
            <a:ext cx="1426539" cy="152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 results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6119" y="4690318"/>
            <a:ext cx="8608963" cy="101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store writes. No supervisor start or resume. No specialist execution. No telemetry store. No new audit event kinds. No live tracing. No alerts. No pipeline mutation.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54360"/>
            <a:ext cx="8151763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Runtime Example — Evaluation Flow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641" y="784622"/>
            <a:ext cx="7890644" cy="296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2209" y="2912130"/>
            <a:ext cx="1190147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Owner Insight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502299" y="3026763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Surface Gaps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10540" y="2797497"/>
            <a:ext cx="1190146" cy="6877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Score Reconstructability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18781" y="2912130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Derive Metrics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94415" y="2912130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Orchestration Audit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3893716"/>
            <a:ext cx="3962400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What the module extracts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96119" y="4108772"/>
            <a:ext cx="3962400" cy="598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Per-run metrics: identity, goal, status, stop reason, limits</a:t>
            </a:r>
            <a:endParaRPr lang="en-US" sz="700" dirty="0"/>
          </a:p>
          <a:p>
            <a:pPr algn="l" marL="142240" indent="-14224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Handoff metrics: allow/deny, policy fields, lifecycle</a:t>
            </a:r>
            <a:endParaRPr lang="en-US" sz="700" dirty="0"/>
          </a:p>
          <a:p>
            <a:pPr algn="l" marL="142240" indent="-14224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Optional child roll-ups: provider, tokens, cost, latency (</a:t>
            </a:r>
            <a:pPr algn="l" marL="142240" indent="-14224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algn="l" marL="142240" indent="-14224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when absent)</a:t>
            </a:r>
            <a:endParaRPr lang="en-US" sz="700" dirty="0"/>
          </a:p>
          <a:p>
            <a:pPr algn="l" marL="142240" indent="-14224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Parent/child correlation including orphans and join gaps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690244" y="3893716"/>
            <a:ext cx="3962400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CLI surface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690244" y="4108772"/>
            <a:ext cx="3962400" cy="2943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cic agent orchestrate metrics</a:t>
            </a:r>
            <a:pPr algn="l" marL="142240" indent="-14224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one run</a:t>
            </a:r>
            <a:endParaRPr lang="en-US" sz="700" dirty="0"/>
          </a:p>
          <a:p>
            <a:pPr algn="l" marL="142240" indent="-14224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cic agent orchestrate metrics-corpus</a:t>
            </a:r>
            <a:pPr algn="l" marL="142240" indent="-14224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offline suite summary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690244" y="4465886"/>
            <a:ext cx="3962400" cy="260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Presentation is subordinate to derivation. The CLI is an interview and debug surface, not a product dashboard.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7051"/>
            <a:ext cx="8151763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R1–R12 Reconstructability Questions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935682"/>
            <a:ext cx="8151763" cy="2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Twelve fixed questions an owner must be able to answer from artefacts alone. </a:t>
            </a:r>
            <a:pPr algn="l" indent="0" marL="0">
              <a:lnSpc>
                <a:spcPct val="121000"/>
              </a:lnSpc>
              <a:buNone/>
            </a:pPr>
            <a:r>
              <a:rPr lang="en-US" sz="7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PASS</a:t>
            </a:r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supported by evidence. </a:t>
            </a:r>
            <a:pPr algn="l" indent="0" marL="0">
              <a:lnSpc>
                <a:spcPct val="121000"/>
              </a:lnSpc>
              <a:buNone/>
            </a:pPr>
            <a:r>
              <a:rPr lang="en-US" sz="7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FAIL</a:t>
            </a:r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names the missing or contradictory evidence. The evaluator never invents precision and never "heals" bad audits.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96119" y="1319957"/>
            <a:ext cx="8151763" cy="3366418"/>
          </a:xfrm>
          <a:prstGeom prst="roundRect">
            <a:avLst>
              <a:gd name="adj" fmla="val 449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1580927"/>
            <a:ext cx="8151763" cy="629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1839516"/>
            <a:ext cx="8151763" cy="629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098104"/>
            <a:ext cx="8151763" cy="629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2356693"/>
            <a:ext cx="8151763" cy="629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2615282"/>
            <a:ext cx="8151763" cy="629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96119" y="2873871"/>
            <a:ext cx="8151763" cy="629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96119" y="3132460"/>
            <a:ext cx="8151763" cy="629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96119" y="3391049"/>
            <a:ext cx="8151763" cy="629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96119" y="3649638"/>
            <a:ext cx="8151763" cy="629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96119" y="3908227"/>
            <a:ext cx="8151763" cy="629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96119" y="4166815"/>
            <a:ext cx="8151763" cy="629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96119" y="4425404"/>
            <a:ext cx="8151763" cy="629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315194" y="1319957"/>
            <a:ext cx="6299" cy="336641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943597" y="1319957"/>
            <a:ext cx="6299" cy="336641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01030" y="1324719"/>
            <a:ext cx="814164" cy="256208"/>
          </a:xfrm>
          <a:custGeom>
            <a:avLst/>
            <a:gdLst/>
            <a:ahLst/>
            <a:cxnLst/>
            <a:rect l="l" t="t" r="r" b="b"/>
            <a:pathLst>
              <a:path w="814164" h="256208">
                <a:moveTo>
                  <a:pt x="12598" y="0"/>
                </a:moveTo>
                <a:lnTo>
                  <a:pt x="814164" y="0"/>
                </a:lnTo>
                <a:lnTo>
                  <a:pt x="814164" y="256208"/>
                </a:lnTo>
                <a:lnTo>
                  <a:pt x="0" y="256208"/>
                </a:lnTo>
                <a:lnTo>
                  <a:pt x="0" y="12598"/>
                </a:lnTo>
                <a:arcTo hR="12598" wR="12598" stAng="10800000" swAng="5400000"/>
                <a:close/>
              </a:path>
            </a:pathLst>
          </a:custGeom>
          <a:solidFill>
            <a:srgbClr val="AC9EF5"/>
          </a:solidFill>
          <a:ln/>
        </p:spPr>
      </p:sp>
      <p:sp>
        <p:nvSpPr>
          <p:cNvPr id="20" name="Text 18"/>
          <p:cNvSpPr/>
          <p:nvPr/>
        </p:nvSpPr>
        <p:spPr>
          <a:xfrm>
            <a:off x="601787" y="1378595"/>
            <a:ext cx="1067470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315194" y="1324719"/>
            <a:ext cx="1628403" cy="256208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22" name="Text 20"/>
          <p:cNvSpPr/>
          <p:nvPr/>
        </p:nvSpPr>
        <p:spPr>
          <a:xfrm>
            <a:off x="1418332" y="1378595"/>
            <a:ext cx="1879327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Story Beat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943597" y="1324719"/>
            <a:ext cx="5699522" cy="256208"/>
          </a:xfrm>
          <a:custGeom>
            <a:avLst/>
            <a:gdLst/>
            <a:ahLst/>
            <a:cxnLst/>
            <a:rect l="l" t="t" r="r" b="b"/>
            <a:pathLst>
              <a:path w="5699522" h="256208">
                <a:moveTo>
                  <a:pt x="0" y="0"/>
                </a:moveTo>
                <a:lnTo>
                  <a:pt x="5686923" y="0"/>
                </a:lnTo>
                <a:arcTo hR="12598" wR="12598" stAng="16200000" swAng="5400000"/>
                <a:lnTo>
                  <a:pt x="5699522" y="256208"/>
                </a:lnTo>
                <a:lnTo>
                  <a:pt x="0" y="256208"/>
                </a:lnTo>
                <a:lnTo>
                  <a:pt x="0" y="0"/>
                </a:lnTo>
                <a:close/>
              </a:path>
            </a:pathLst>
          </a:custGeom>
          <a:solidFill>
            <a:srgbClr val="AC9EF5"/>
          </a:solidFill>
          <a:ln/>
        </p:spPr>
      </p:sp>
      <p:sp>
        <p:nvSpPr>
          <p:cNvPr id="24" name="Text 22"/>
          <p:cNvSpPr/>
          <p:nvPr/>
        </p:nvSpPr>
        <p:spPr>
          <a:xfrm>
            <a:off x="3046735" y="1378595"/>
            <a:ext cx="5952827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Must Be Evidenced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01787" y="1637184"/>
            <a:ext cx="1067470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R1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418332" y="1637184"/>
            <a:ext cx="1879327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 goal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046735" y="1637184"/>
            <a:ext cx="5952827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 recorded and readable from artefact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01787" y="1895773"/>
            <a:ext cx="1067470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418332" y="1895773"/>
            <a:ext cx="1879327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Observed state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046735" y="1895773"/>
            <a:ext cx="5952827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 snapshot present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01787" y="2154362"/>
            <a:ext cx="1067470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R3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418332" y="2154362"/>
            <a:ext cx="1879327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Specialist selection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046735" y="2154362"/>
            <a:ext cx="5952827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Selection decision traceable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01787" y="2412950"/>
            <a:ext cx="1067470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R4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418332" y="2412950"/>
            <a:ext cx="1879327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DelegationPolicy consistency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046735" y="2412950"/>
            <a:ext cx="5952827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fields consistent across handoff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01787" y="2671539"/>
            <a:ext cx="1067470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R5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418332" y="2671539"/>
            <a:ext cx="1879327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Authority boundary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046735" y="2671539"/>
            <a:ext cx="5952827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 / BOPA boundary respected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01787" y="2930128"/>
            <a:ext cx="1067470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R6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418332" y="2930128"/>
            <a:ext cx="1879327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Handoff lifecycle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046735" y="2930128"/>
            <a:ext cx="5952827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Allow/deny and lifecycle fields present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01787" y="3188717"/>
            <a:ext cx="1067470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R7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418332" y="3188717"/>
            <a:ext cx="1879327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Child output references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046735" y="3188717"/>
            <a:ext cx="5952827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Child output joinable to parent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01787" y="3447306"/>
            <a:ext cx="1067470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R8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418332" y="3447306"/>
            <a:ext cx="1879327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Stop reason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046735" y="3447306"/>
            <a:ext cx="5952827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Stop reason recorded and typed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01787" y="3705895"/>
            <a:ext cx="1067470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R9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418332" y="3705895"/>
            <a:ext cx="1879327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 next action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046735" y="3705895"/>
            <a:ext cx="5952827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action derivable from artefact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01787" y="3964484"/>
            <a:ext cx="1067470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R10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1418332" y="3964484"/>
            <a:ext cx="1879327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Limits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3046735" y="3964484"/>
            <a:ext cx="5952827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 fields present and evaluable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01787" y="4223072"/>
            <a:ext cx="1067470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R11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418332" y="4223072"/>
            <a:ext cx="1879327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Parent/child walk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046735" y="4223072"/>
            <a:ext cx="5952827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parent→child chain walkable; orphans surfaced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01787" y="4481661"/>
            <a:ext cx="1067470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R12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1418332" y="4481661"/>
            <a:ext cx="1879327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 / idempotency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3046735" y="4481661"/>
            <a:ext cx="5952827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 key present and consistent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1893"/>
            <a:ext cx="8151763" cy="357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Engineering Principles</a:t>
            </a:r>
            <a:endParaRPr lang="en-US" sz="2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950044"/>
            <a:ext cx="285824" cy="2858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367582"/>
            <a:ext cx="4010025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Derive Before Instrument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6119" y="1609502"/>
            <a:ext cx="4010025" cy="527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 what existing records support. Instrument only when reconstructability fails for a reason that cannot be fixed by better derivation.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7856" y="950044"/>
            <a:ext cx="285824" cy="2858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37856" y="1367582"/>
            <a:ext cx="4010025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Observability ≠ Dashboards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637856" y="1609502"/>
            <a:ext cx="4010025" cy="527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Observability means: can a competent engineer reconstruct what happened and what was unknown? Charts are one possible presentation — not the definition.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347838"/>
            <a:ext cx="285824" cy="28582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2765375"/>
            <a:ext cx="4010025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Missing ≠ Zero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496119" y="3007296"/>
            <a:ext cx="4010025" cy="356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field never recorded. 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measured empty. Coercing absence into zero is a semantic bug that infects every aggregate downstream.</a:t>
            </a:r>
            <a:endParaRPr lang="en-US" sz="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7856" y="2347838"/>
            <a:ext cx="285824" cy="28582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37856" y="2765375"/>
            <a:ext cx="4010025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Detect, Don't Repair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4637856" y="3007296"/>
            <a:ext cx="4010025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Orphan child ids and contradictory linkage produce R-signal failures. Evaluation surfaces them. Repair belongs to runtime correctness work.</a:t>
            </a:r>
            <a:endParaRPr lang="en-US" sz="9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574554"/>
            <a:ext cx="285824" cy="28582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6119" y="3992091"/>
            <a:ext cx="4010025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Preserve Source-of-Truth Boundaries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496119" y="4234011"/>
            <a:ext cx="4010025" cy="527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FR-017 evaluates. FR-015 owns child metrics schemas. FR-016 owns orchestration audit shape. Crossing boundaries creates twin definitions and silent drift.</a:t>
            </a:r>
            <a:endParaRPr lang="en-US" sz="9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37856" y="3574554"/>
            <a:ext cx="285824" cy="28582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637856" y="3992091"/>
            <a:ext cx="4010025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Read-Only Evaluation</a:t>
            </a:r>
            <a:endParaRPr lang="en-US" sz="1100" dirty="0"/>
          </a:p>
        </p:txBody>
      </p:sp>
      <p:sp>
        <p:nvSpPr>
          <p:cNvPr id="20" name="Text 12"/>
          <p:cNvSpPr/>
          <p:nvPr/>
        </p:nvSpPr>
        <p:spPr>
          <a:xfrm>
            <a:off x="4637856" y="4234011"/>
            <a:ext cx="4010025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evaluation CLI that can start supervisors or mutate pipelines is a control plane with a misleading name. FR-017 paths load only.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61429"/>
            <a:ext cx="8151763" cy="3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Validation Summary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96119" y="1015305"/>
            <a:ext cx="2623393" cy="390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15/15</a:t>
            </a:r>
            <a:endParaRPr lang="en-US" sz="3050" dirty="0"/>
          </a:p>
        </p:txBody>
      </p:sp>
      <p:sp>
        <p:nvSpPr>
          <p:cNvPr id="4" name="Text 2"/>
          <p:cNvSpPr/>
          <p:nvPr/>
        </p:nvSpPr>
        <p:spPr>
          <a:xfrm>
            <a:off x="496119" y="1549003"/>
            <a:ext cx="262339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Corpus PASS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96119" y="1801267"/>
            <a:ext cx="262339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 cases; repeatability confirmed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60303" y="1015305"/>
            <a:ext cx="2623393" cy="390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GO</a:t>
            </a:r>
            <a:endParaRPr lang="en-US" sz="3050" dirty="0"/>
          </a:p>
        </p:txBody>
      </p:sp>
      <p:sp>
        <p:nvSpPr>
          <p:cNvPr id="7" name="Text 5"/>
          <p:cNvSpPr/>
          <p:nvPr/>
        </p:nvSpPr>
        <p:spPr>
          <a:xfrm>
            <a:off x="3260303" y="1549003"/>
            <a:ext cx="262339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Recommendation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60303" y="1801267"/>
            <a:ext cx="2623393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 AND FREEZE — remain narrow derive-only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24488" y="1015305"/>
            <a:ext cx="2623393" cy="390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R12</a:t>
            </a:r>
            <a:endParaRPr lang="en-US" sz="3050" dirty="0"/>
          </a:p>
        </p:txBody>
      </p:sp>
      <p:sp>
        <p:nvSpPr>
          <p:cNvPr id="10" name="Text 8"/>
          <p:cNvSpPr/>
          <p:nvPr/>
        </p:nvSpPr>
        <p:spPr>
          <a:xfrm>
            <a:off x="6024488" y="1549003"/>
            <a:ext cx="262339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Questions Scored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024488" y="1801267"/>
            <a:ext cx="2623393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reconstructability story from goal to resume/idempotency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6119" y="2410048"/>
            <a:ext cx="3931667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Corpus shapes covered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6119" y="2707407"/>
            <a:ext cx="3931667" cy="1085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 orchestration and blocked delegation</a:t>
            </a:r>
            <a:endParaRPr lang="en-US" sz="900" dirty="0"/>
          </a:p>
          <a:p>
            <a:pPr algn="l" marL="182880" indent="-18288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BOPA child and OBS brief, including </a:t>
            </a:r>
            <a:pPr algn="l" marL="182880" indent="-18288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prepare_then_brief</a:t>
            </a:r>
            <a:endParaRPr lang="en-US" sz="900" dirty="0"/>
          </a:p>
          <a:p>
            <a:pPr algn="l" marL="182880" indent="-18288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optional metadata vs. measured zero</a:t>
            </a:r>
            <a:endParaRPr lang="en-US" sz="900" dirty="0"/>
          </a:p>
          <a:p>
            <a:pPr algn="l" marL="182880" indent="-18288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Orphan child, missing child join, stale handoff</a:t>
            </a:r>
            <a:endParaRPr lang="en-US" sz="900" dirty="0"/>
          </a:p>
          <a:p>
            <a:pPr algn="l" marL="182880" indent="-18288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Resumed / idempotent run; loop stops; contradictory audit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20977" y="2410048"/>
            <a:ext cx="3931667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Constraints confirmed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20977" y="2707407"/>
            <a:ext cx="3931667" cy="1265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DOS/BOPA/OBS contract changes</a:t>
            </a:r>
            <a:endParaRPr lang="en-US" sz="900" dirty="0"/>
          </a:p>
          <a:p>
            <a:pPr algn="l" marL="182880" indent="-18288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dashboards or telemetry SoT</a:t>
            </a:r>
            <a:endParaRPr lang="en-US" sz="900" dirty="0"/>
          </a:p>
          <a:p>
            <a:pPr algn="l" marL="182880" indent="-18288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Horizon 1B unblocked</a:t>
            </a:r>
            <a:endParaRPr lang="en-US" sz="900" dirty="0"/>
          </a:p>
          <a:p>
            <a:pPr algn="l" marL="182880" indent="-18288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Simpler daily prep path preferred</a:t>
            </a:r>
            <a:endParaRPr lang="en-US" sz="900" dirty="0"/>
          </a:p>
          <a:p>
            <a:pPr algn="l" marL="182880" indent="-18288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Byte-identical proof: metrics commands do not mutate stored JSON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6119" y="4139505"/>
            <a:ext cx="8151763" cy="642491"/>
          </a:xfrm>
          <a:prstGeom prst="roundRect">
            <a:avLst>
              <a:gd name="adj" fmla="val 2760"/>
            </a:avLst>
          </a:prstGeom>
          <a:solidFill>
            <a:srgbClr val="183A13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288" y="4307607"/>
            <a:ext cx="147786" cy="11817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80244" y="4281711"/>
            <a:ext cx="7649468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failures are part of the design: orphan cases fail R11; contradictory audits fail R7 and R11. A suite that only passes happy paths would be reconstructability theatre.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59197"/>
            <a:ext cx="8151763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Trade-offs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41127"/>
            <a:ext cx="3926979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Accepted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367061"/>
            <a:ext cx="3926979" cy="3281958"/>
          </a:xfrm>
          <a:prstGeom prst="roundRect">
            <a:avLst>
              <a:gd name="adj" fmla="val 558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1721793"/>
            <a:ext cx="3926979" cy="763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267992"/>
            <a:ext cx="3926979" cy="763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814191"/>
            <a:ext cx="3926979" cy="763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360390"/>
            <a:ext cx="3926979" cy="763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4100438"/>
            <a:ext cx="3926979" cy="763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0881" y="1371823"/>
            <a:ext cx="1958727" cy="349969"/>
          </a:xfrm>
          <a:custGeom>
            <a:avLst/>
            <a:gdLst/>
            <a:ahLst/>
            <a:cxnLst/>
            <a:rect l="l" t="t" r="r" b="b"/>
            <a:pathLst>
              <a:path w="1958727" h="349969">
                <a:moveTo>
                  <a:pt x="15264" y="0"/>
                </a:moveTo>
                <a:lnTo>
                  <a:pt x="1958727" y="0"/>
                </a:lnTo>
                <a:lnTo>
                  <a:pt x="1958727" y="349969"/>
                </a:lnTo>
                <a:lnTo>
                  <a:pt x="0" y="349969"/>
                </a:lnTo>
                <a:lnTo>
                  <a:pt x="0" y="15264"/>
                </a:lnTo>
                <a:arcTo hR="15264" wR="15264" stAng="10800000" swAng="5400000"/>
                <a:close/>
              </a:path>
            </a:pathLst>
          </a:custGeom>
          <a:solidFill>
            <a:srgbClr val="AC9EF5"/>
          </a:solidFill>
          <a:ln/>
        </p:spPr>
      </p:sp>
      <p:sp>
        <p:nvSpPr>
          <p:cNvPr id="11" name="Text 9"/>
          <p:cNvSpPr/>
          <p:nvPr/>
        </p:nvSpPr>
        <p:spPr>
          <a:xfrm>
            <a:off x="622920" y="1448693"/>
            <a:ext cx="217184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Choice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59608" y="1371823"/>
            <a:ext cx="1958727" cy="349969"/>
          </a:xfrm>
          <a:custGeom>
            <a:avLst/>
            <a:gdLst/>
            <a:ahLst/>
            <a:cxnLst/>
            <a:rect l="l" t="t" r="r" b="b"/>
            <a:pathLst>
              <a:path w="1958727" h="349969">
                <a:moveTo>
                  <a:pt x="0" y="0"/>
                </a:moveTo>
                <a:lnTo>
                  <a:pt x="1943463" y="0"/>
                </a:lnTo>
                <a:arcTo hR="15264" wR="15264" stAng="16200000" swAng="5400000"/>
                <a:lnTo>
                  <a:pt x="1958727" y="349969"/>
                </a:lnTo>
                <a:lnTo>
                  <a:pt x="0" y="349969"/>
                </a:lnTo>
                <a:lnTo>
                  <a:pt x="0" y="0"/>
                </a:lnTo>
                <a:close/>
              </a:path>
            </a:pathLst>
          </a:custGeom>
          <a:solidFill>
            <a:srgbClr val="AC9EF5"/>
          </a:solidFill>
          <a:ln/>
        </p:spPr>
      </p:sp>
      <p:sp>
        <p:nvSpPr>
          <p:cNvPr id="13" name="Text 11"/>
          <p:cNvSpPr/>
          <p:nvPr/>
        </p:nvSpPr>
        <p:spPr>
          <a:xfrm>
            <a:off x="2581647" y="1448693"/>
            <a:ext cx="217184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Worth It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2920" y="1801044"/>
            <a:ext cx="1714649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Derive-only over existing audits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81647" y="1801044"/>
            <a:ext cx="1714649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Tests the real system, not a redesigned one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2920" y="2347243"/>
            <a:ext cx="1714649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R1–R12 as first-class acceptance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81647" y="2347243"/>
            <a:ext cx="1714649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Forces evidence, not storytelling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2920" y="2893442"/>
            <a:ext cx="217184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Reuse FR-015 child metrics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81647" y="2893442"/>
            <a:ext cx="1714649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definition of tokens/cost/provider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2920" y="3439641"/>
            <a:ext cx="217184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 CLI instead of UI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81647" y="3439641"/>
            <a:ext cx="1714649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Interviewable and owner-operable without product weight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2920" y="4179689"/>
            <a:ext cx="217184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commercial claim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81647" y="4179689"/>
            <a:ext cx="1714649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Avoids observability theatre and false ROI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25665" y="1041127"/>
            <a:ext cx="3926979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⏳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Deferred / Out of Scope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25665" y="1352029"/>
            <a:ext cx="3926979" cy="137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2000"/>
              </a:lnSpc>
              <a:buSzPct val="100000"/>
              <a:buChar char="•"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Token/cost completeness for every offline fixture</a:t>
            </a:r>
            <a:endParaRPr lang="en-US" sz="950" dirty="0"/>
          </a:p>
          <a:p>
            <a:pPr algn="l" marL="193040" indent="-193040">
              <a:lnSpc>
                <a:spcPct val="132000"/>
              </a:lnSpc>
              <a:buSzPct val="100000"/>
              <a:buChar char="•"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 polish and richer fault-injection productisation</a:t>
            </a:r>
            <a:endParaRPr lang="en-US" sz="950" dirty="0"/>
          </a:p>
          <a:p>
            <a:pPr algn="l" marL="193040" indent="-193040">
              <a:lnSpc>
                <a:spcPct val="132000"/>
              </a:lnSpc>
              <a:buSzPct val="100000"/>
              <a:buChar char="•"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Dashboards, alerts, live tracing platforms</a:t>
            </a:r>
            <a:endParaRPr lang="en-US" sz="950" dirty="0"/>
          </a:p>
          <a:p>
            <a:pPr algn="l" marL="193040" indent="-193040">
              <a:lnSpc>
                <a:spcPct val="132000"/>
              </a:lnSpc>
              <a:buSzPct val="100000"/>
              <a:buChar char="•"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Telemetry backends, monitoring SaaS</a:t>
            </a:r>
            <a:endParaRPr lang="en-US" sz="950" dirty="0"/>
          </a:p>
          <a:p>
            <a:pPr algn="l" marL="193040" indent="-193040">
              <a:lnSpc>
                <a:spcPct val="132000"/>
              </a:lnSpc>
              <a:buSzPct val="100000"/>
              <a:buChar char="•"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mutation, submission behaviour</a:t>
            </a:r>
            <a:endParaRPr lang="en-US" sz="950" dirty="0"/>
          </a:p>
          <a:p>
            <a:pPr algn="l" marL="193040" indent="-193040">
              <a:lnSpc>
                <a:spcPct val="132000"/>
              </a:lnSpc>
              <a:buSzPct val="100000"/>
              <a:buChar char="•"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Horizon 1B integration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25665" y="2860551"/>
            <a:ext cx="3926979" cy="1052661"/>
          </a:xfrm>
          <a:prstGeom prst="roundRect">
            <a:avLst>
              <a:gd name="adj" fmla="val 1740"/>
            </a:avLst>
          </a:prstGeom>
          <a:solidFill>
            <a:srgbClr val="1D0C74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7704" y="3044428"/>
            <a:ext cx="152623" cy="122039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122366" y="2999184"/>
            <a:ext cx="3408238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Richer time-travel replay or broader observability — </a:t>
            </a:r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only</a:t>
            </a:r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when derive-only evaluation fails to answer owner-critical questions at scale. Desire for dashboards is not justification.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70261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Honest Product Assessment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005831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honesty is itself an engineering artefact. Overclaiming value is a form of technical debt in product communication.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343820"/>
            <a:ext cx="8151763" cy="1429345"/>
          </a:xfrm>
          <a:prstGeom prst="roundRect">
            <a:avLst>
              <a:gd name="adj" fmla="val 1302"/>
            </a:avLst>
          </a:prstGeom>
          <a:solidFill>
            <a:srgbClr val="4C5052"/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2343820"/>
            <a:ext cx="2717229" cy="714673"/>
          </a:xfrm>
          <a:custGeom>
            <a:avLst/>
            <a:gdLst/>
            <a:ahLst/>
            <a:cxnLst/>
            <a:rect l="l" t="t" r="r" b="b"/>
            <a:pathLst>
              <a:path w="2717229" h="714673">
                <a:moveTo>
                  <a:pt x="15506" y="0"/>
                </a:moveTo>
                <a:lnTo>
                  <a:pt x="2717229" y="0"/>
                </a:lnTo>
                <a:lnTo>
                  <a:pt x="2717229" y="714673"/>
                </a:lnTo>
                <a:lnTo>
                  <a:pt x="0" y="714673"/>
                </a:lnTo>
                <a:lnTo>
                  <a:pt x="0" y="15506"/>
                </a:lnTo>
                <a:arcTo hR="15506" wR="15506" stAng="10800000" swAng="5400000"/>
                <a:close/>
              </a:path>
            </a:pathLst>
          </a:custGeom>
          <a:solidFill>
            <a:srgbClr val="4C5052"/>
          </a:solidFill>
          <a:ln/>
        </p:spPr>
      </p:sp>
      <p:sp>
        <p:nvSpPr>
          <p:cNvPr id="6" name="Text 4"/>
          <p:cNvSpPr/>
          <p:nvPr/>
        </p:nvSpPr>
        <p:spPr>
          <a:xfrm>
            <a:off x="620092" y="2467794"/>
            <a:ext cx="24692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Improves daily preparation?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0092" y="2736056"/>
            <a:ext cx="246928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AC9EF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material improvement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13348" y="2343820"/>
            <a:ext cx="2717229" cy="714673"/>
          </a:xfrm>
          <a:prstGeom prst="rect">
            <a:avLst/>
          </a:prstGeom>
          <a:solidFill>
            <a:srgbClr val="4C5052"/>
          </a:solidFill>
          <a:ln/>
        </p:spPr>
      </p:sp>
      <p:sp>
        <p:nvSpPr>
          <p:cNvPr id="9" name="Shape 7"/>
          <p:cNvSpPr/>
          <p:nvPr/>
        </p:nvSpPr>
        <p:spPr>
          <a:xfrm>
            <a:off x="3213348" y="2343820"/>
            <a:ext cx="14288" cy="714673"/>
          </a:xfrm>
          <a:prstGeom prst="roundRect">
            <a:avLst>
              <a:gd name="adj" fmla="val 49998"/>
            </a:avLst>
          </a:prstGeom>
          <a:solidFill>
            <a:srgbClr val="65696B"/>
          </a:solidFill>
          <a:ln/>
        </p:spPr>
      </p:sp>
      <p:sp>
        <p:nvSpPr>
          <p:cNvPr id="10" name="Text 8"/>
          <p:cNvSpPr/>
          <p:nvPr/>
        </p:nvSpPr>
        <p:spPr>
          <a:xfrm>
            <a:off x="3337322" y="2467794"/>
            <a:ext cx="24692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Materially improves Horizon 1B?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322" y="2736056"/>
            <a:ext cx="246928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AC9EF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30578" y="2343820"/>
            <a:ext cx="2717229" cy="714673"/>
          </a:xfrm>
          <a:custGeom>
            <a:avLst/>
            <a:gdLst/>
            <a:ahLst/>
            <a:cxnLst/>
            <a:rect l="l" t="t" r="r" b="b"/>
            <a:pathLst>
              <a:path w="2717229" h="714673">
                <a:moveTo>
                  <a:pt x="0" y="0"/>
                </a:moveTo>
                <a:lnTo>
                  <a:pt x="2701724" y="0"/>
                </a:lnTo>
                <a:arcTo hR="15506" wR="15506" stAng="16200000" swAng="5400000"/>
                <a:lnTo>
                  <a:pt x="2717229" y="714673"/>
                </a:lnTo>
                <a:lnTo>
                  <a:pt x="0" y="714673"/>
                </a:lnTo>
                <a:lnTo>
                  <a:pt x="0" y="0"/>
                </a:lnTo>
                <a:close/>
              </a:path>
            </a:pathLst>
          </a:custGeom>
          <a:solidFill>
            <a:srgbClr val="4C5052"/>
          </a:solidFill>
          <a:ln/>
        </p:spPr>
      </p:sp>
      <p:sp>
        <p:nvSpPr>
          <p:cNvPr id="13" name="Shape 11"/>
          <p:cNvSpPr/>
          <p:nvPr/>
        </p:nvSpPr>
        <p:spPr>
          <a:xfrm>
            <a:off x="5930578" y="2343820"/>
            <a:ext cx="14288" cy="714673"/>
          </a:xfrm>
          <a:prstGeom prst="roundRect">
            <a:avLst>
              <a:gd name="adj" fmla="val 49998"/>
            </a:avLst>
          </a:prstGeom>
          <a:solidFill>
            <a:srgbClr val="65696B"/>
          </a:solidFill>
          <a:ln/>
        </p:spPr>
      </p:sp>
      <p:sp>
        <p:nvSpPr>
          <p:cNvPr id="14" name="Text 12"/>
          <p:cNvSpPr/>
          <p:nvPr/>
        </p:nvSpPr>
        <p:spPr>
          <a:xfrm>
            <a:off x="6054551" y="2467794"/>
            <a:ext cx="24692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Useful operational / audit insight?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54551" y="2736056"/>
            <a:ext cx="246928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AC9EF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6119" y="3058492"/>
            <a:ext cx="4075807" cy="714673"/>
          </a:xfrm>
          <a:custGeom>
            <a:avLst/>
            <a:gdLst/>
            <a:ahLst/>
            <a:cxnLst/>
            <a:rect l="l" t="t" r="r" b="b"/>
            <a:pathLst>
              <a:path w="4075807" h="714673">
                <a:moveTo>
                  <a:pt x="0" y="0"/>
                </a:moveTo>
                <a:lnTo>
                  <a:pt x="4075807" y="0"/>
                </a:lnTo>
                <a:lnTo>
                  <a:pt x="4075807" y="714673"/>
                </a:lnTo>
                <a:lnTo>
                  <a:pt x="15506" y="714673"/>
                </a:lnTo>
                <a:arcTo hR="15506" wR="15506" stAng="5400000" swAng="5400000"/>
                <a:lnTo>
                  <a:pt x="0" y="0"/>
                </a:lnTo>
                <a:close/>
              </a:path>
            </a:pathLst>
          </a:custGeom>
          <a:solidFill>
            <a:srgbClr val="4C5052"/>
          </a:solidFill>
          <a:ln/>
        </p:spPr>
      </p:sp>
      <p:sp>
        <p:nvSpPr>
          <p:cNvPr id="17" name="Shape 15"/>
          <p:cNvSpPr/>
          <p:nvPr/>
        </p:nvSpPr>
        <p:spPr>
          <a:xfrm>
            <a:off x="496119" y="3058492"/>
            <a:ext cx="4075807" cy="14288"/>
          </a:xfrm>
          <a:prstGeom prst="roundRect">
            <a:avLst>
              <a:gd name="adj" fmla="val 49998"/>
            </a:avLst>
          </a:prstGeom>
          <a:solidFill>
            <a:srgbClr val="65696B"/>
          </a:solidFill>
          <a:ln/>
        </p:spPr>
      </p:sp>
      <p:sp>
        <p:nvSpPr>
          <p:cNvPr id="18" name="Text 16"/>
          <p:cNvSpPr/>
          <p:nvPr/>
        </p:nvSpPr>
        <p:spPr>
          <a:xfrm>
            <a:off x="620092" y="3182466"/>
            <a:ext cx="382785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Justifies dashboards now?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0092" y="3450729"/>
            <a:ext cx="382785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AC9EF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1926" y="3058492"/>
            <a:ext cx="4075881" cy="714673"/>
          </a:xfrm>
          <a:custGeom>
            <a:avLst/>
            <a:gdLst/>
            <a:ahLst/>
            <a:cxnLst/>
            <a:rect l="l" t="t" r="r" b="b"/>
            <a:pathLst>
              <a:path w="4075881" h="714673">
                <a:moveTo>
                  <a:pt x="0" y="0"/>
                </a:moveTo>
                <a:lnTo>
                  <a:pt x="4075881" y="0"/>
                </a:lnTo>
                <a:lnTo>
                  <a:pt x="4075881" y="699167"/>
                </a:lnTo>
                <a:arcTo hR="15506" wR="15506" stAng="0" swAng="5400000"/>
                <a:lnTo>
                  <a:pt x="0" y="714673"/>
                </a:lnTo>
                <a:lnTo>
                  <a:pt x="0" y="0"/>
                </a:lnTo>
                <a:close/>
              </a:path>
            </a:pathLst>
          </a:custGeom>
          <a:solidFill>
            <a:srgbClr val="4C5052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1926" y="3058492"/>
            <a:ext cx="14288" cy="714673"/>
          </a:xfrm>
          <a:prstGeom prst="roundRect">
            <a:avLst>
              <a:gd name="adj" fmla="val 49998"/>
            </a:avLst>
          </a:prstGeom>
          <a:solidFill>
            <a:srgbClr val="65696B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1926" y="3058492"/>
            <a:ext cx="4075881" cy="14288"/>
          </a:xfrm>
          <a:prstGeom prst="roundRect">
            <a:avLst>
              <a:gd name="adj" fmla="val 49998"/>
            </a:avLst>
          </a:prstGeom>
          <a:solidFill>
            <a:srgbClr val="65696B"/>
          </a:solidFill>
          <a:ln/>
        </p:spPr>
      </p:sp>
      <p:sp>
        <p:nvSpPr>
          <p:cNvPr id="23" name="Text 21"/>
          <p:cNvSpPr/>
          <p:nvPr/>
        </p:nvSpPr>
        <p:spPr>
          <a:xfrm>
            <a:off x="4695899" y="3182466"/>
            <a:ext cx="382793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Should remain narrow?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95899" y="3450729"/>
            <a:ext cx="382793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AC9EF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Yes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11981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Why Employers Care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1185565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Employers need engineers who can evaluate complex systems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without inventing parallel platforms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FR-017 demonstrates transferable production-grade judgment:</a:t>
            </a:r>
            <a:endParaRPr lang="en-US" sz="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627" y="1924273"/>
            <a:ext cx="186035" cy="18603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99145" y="1920478"/>
            <a:ext cx="431973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Derive evidence from existing records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99145" y="2188741"/>
            <a:ext cx="431973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redesign the system to make it measurable.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2627" y="2639020"/>
            <a:ext cx="186035" cy="18603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99145" y="2635225"/>
            <a:ext cx="431973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Refuse false precision when data is missing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899145" y="2903488"/>
            <a:ext cx="431973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Honest semantics over pretty aggregates.</a:t>
            </a:r>
            <a:endParaRPr lang="en-US" sz="9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2627" y="3353767"/>
            <a:ext cx="186035" cy="18603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99145" y="3349972"/>
            <a:ext cx="431973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Detect parent/child inconsistency without silently fixing it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899145" y="3618235"/>
            <a:ext cx="431973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Surface contradictions; repair belongs to runtime correctness work.</a:t>
            </a:r>
            <a:endParaRPr lang="en-US" sz="9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2627" y="4068514"/>
            <a:ext cx="186035" cy="18603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99145" y="4064719"/>
            <a:ext cx="431973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Keep evaluation read-only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899145" y="4332982"/>
            <a:ext cx="431973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Diagnosis must not become accidental mutation.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2517"/>
            <a:ext cx="8151763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Interview Preparation — Q&amp;A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96119" y="914549"/>
            <a:ext cx="8608963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these as spoken answers, not memorised paragraphs.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192337"/>
            <a:ext cx="1964159" cy="18236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7987" y="1317054"/>
            <a:ext cx="1657573" cy="345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What problem did FR-017 solve?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77987" y="1721346"/>
            <a:ext cx="1657573" cy="1169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to evaluate multi-agent orchestration audits honestly — reconstructability, missing-data semantics, parent/child correlation — without building an observability platform or changing the runtime.</a:t>
            </a:r>
            <a:endParaRPr lang="en-US" sz="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58653" y="1192337"/>
            <a:ext cx="1964159" cy="18236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0521" y="1317054"/>
            <a:ext cx="1657573" cy="345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Why not add dashboards first?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2740521" y="1721346"/>
            <a:ext cx="1657573" cy="1002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Dashboards present numbers; they do not create trustworthy semantics. If missing latency is plotted as zero, the board lies. Prove derive-only reconstructability first.</a:t>
            </a:r>
            <a:endParaRPr lang="en-US" sz="8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21188" y="1192337"/>
            <a:ext cx="1964159" cy="182366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03056" y="1317054"/>
            <a:ext cx="1657573" cy="345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What does derive-only mean in practice?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4803056" y="1721346"/>
            <a:ext cx="1657573" cy="1012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Pure functions over existing </a:t>
            </a:r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OrchestrationRun</a:t>
            </a:r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</a:t>
            </a:r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Handoff</a:t>
            </a:r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child </a:t>
            </a:r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AgentRun</a:t>
            </a:r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records. No new events, no telemetry store, no DOS/BOPA/OBS behaviour changes.</a:t>
            </a:r>
            <a:endParaRPr lang="en-US" sz="8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83722" y="1192337"/>
            <a:ext cx="1964159" cy="182366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865590" y="1317054"/>
            <a:ext cx="1657573" cy="345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Explain missing versus zero.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6865590" y="1721346"/>
            <a:ext cx="1657573" cy="1012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optional field never recorded. </a:t>
            </a:r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∅</a:t>
            </a:r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recorded and measured empty. Aggregates must not coerce absence into zero or every cost roll-up becomes fiction.</a:t>
            </a:r>
            <a:endParaRPr lang="en-US" sz="8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114377"/>
            <a:ext cx="1964159" cy="165653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7987" y="3239095"/>
            <a:ext cx="1657573" cy="345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Give an example of an expected FAIL.</a:t>
            </a:r>
            <a:endParaRPr lang="en-US" sz="1050" dirty="0"/>
          </a:p>
        </p:txBody>
      </p:sp>
      <p:sp>
        <p:nvSpPr>
          <p:cNvPr id="18" name="Text 11"/>
          <p:cNvSpPr/>
          <p:nvPr/>
        </p:nvSpPr>
        <p:spPr>
          <a:xfrm>
            <a:off x="677987" y="3643387"/>
            <a:ext cx="1657573" cy="1002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orphaned child reference fails R11. A contradictory completed run that cannot join child output fails R7 and R11. The corpus treats those as GO when detected correctly.</a:t>
            </a:r>
            <a:endParaRPr lang="en-US" sz="8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58653" y="3114377"/>
            <a:ext cx="1964159" cy="1656531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2740521" y="3239095"/>
            <a:ext cx="1657573" cy="345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When would you build richer observability?</a:t>
            </a:r>
            <a:endParaRPr lang="en-US" sz="1050" dirty="0"/>
          </a:p>
        </p:txBody>
      </p:sp>
      <p:sp>
        <p:nvSpPr>
          <p:cNvPr id="21" name="Text 13"/>
          <p:cNvSpPr/>
          <p:nvPr/>
        </p:nvSpPr>
        <p:spPr>
          <a:xfrm>
            <a:off x="2740521" y="3643387"/>
            <a:ext cx="1657573" cy="1002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owner-critical questions cannot be answered from derived audits at scale — with concrete failing evidence, not aesthetic preference for dashboards.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5419"/>
            <a:ext cx="8151763" cy="351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More Interview Q&amp;A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930473"/>
            <a:ext cx="1961480" cy="18699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9921" y="1057126"/>
            <a:ext cx="1651025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What are R1–R12?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79921" y="1293837"/>
            <a:ext cx="165102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Twelve reconstructability questions from goal through resume/idempotency. PASS requires evidence; FAIL names the gap. Contradictions are surfaced, not repaired.</a:t>
            </a:r>
            <a:endParaRPr lang="en-US" sz="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59472" y="930473"/>
            <a:ext cx="1961555" cy="18699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74" y="1057126"/>
            <a:ext cx="1651099" cy="526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Why reuse FR-015 metrics instead of redefining them?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2743274" y="1645072"/>
            <a:ext cx="1651099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Child token/cost/provider semantics already existed. Forking them would create two truths. Evaluation should consume authoritative metrics, not re-author them.</a:t>
            </a:r>
            <a:endParaRPr lang="en-US" sz="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22899" y="930473"/>
            <a:ext cx="1961555" cy="186995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06702" y="1057126"/>
            <a:ext cx="1651099" cy="351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Is this the daily operator path?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4806702" y="1469454"/>
            <a:ext cx="1651099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No. Ordinary preparation remains the simpler bounded agent command. FR-017 is learning/substrate and audit evaluation.</a:t>
            </a:r>
            <a:endParaRPr lang="en-US" sz="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86327" y="930473"/>
            <a:ext cx="1961555" cy="186995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870129" y="1057126"/>
            <a:ext cx="1651099" cy="351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Did this block the next product horizon?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6870129" y="1469454"/>
            <a:ext cx="16510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Explicitly no. Application-loop usability unblocks Horizon 1B, not completion of every learning FR.</a:t>
            </a:r>
            <a:endParaRPr lang="en-US" sz="8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2902297"/>
            <a:ext cx="1961480" cy="186578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79921" y="3028950"/>
            <a:ext cx="1651025" cy="351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What is the main risk this design avoids?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679921" y="3441278"/>
            <a:ext cx="1651025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Observability theatre: instrumenting and charting until the system </a:t>
            </a:r>
            <a:pPr algn="l" indent="0" marL="0">
              <a:lnSpc>
                <a:spcPct val="127000"/>
              </a:lnSpc>
              <a:buNone/>
            </a:pPr>
            <a:r>
              <a:rPr lang="en-US" sz="850" i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looks</a:t>
            </a:r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monitored while reconstructability and semantic honesty remain unproven.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22896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Three Engineering Lessons to Remember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2154" y="2154585"/>
            <a:ext cx="2448446" cy="123974"/>
          </a:xfrm>
          <a:prstGeom prst="roundRect">
            <a:avLst>
              <a:gd name="adj" fmla="val 15009"/>
            </a:avLst>
          </a:prstGeom>
          <a:solidFill>
            <a:srgbClr val="4C5052"/>
          </a:solidFill>
          <a:ln/>
        </p:spPr>
      </p:sp>
      <p:sp>
        <p:nvSpPr>
          <p:cNvPr id="4" name="Shape 2"/>
          <p:cNvSpPr/>
          <p:nvPr/>
        </p:nvSpPr>
        <p:spPr>
          <a:xfrm>
            <a:off x="496119" y="2030537"/>
            <a:ext cx="372070" cy="372070"/>
          </a:xfrm>
          <a:prstGeom prst="ellipse">
            <a:avLst/>
          </a:prstGeom>
          <a:solidFill>
            <a:srgbClr val="4C505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9136" y="2123554"/>
            <a:ext cx="186035" cy="1860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0092" y="2526581"/>
            <a:ext cx="238660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1. Derive Before You Instrument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0092" y="2794843"/>
            <a:ext cx="238660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Probe what existing records already support. New telemetry is a design change, not a default first step.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440683" y="1968550"/>
            <a:ext cx="2448520" cy="123974"/>
          </a:xfrm>
          <a:prstGeom prst="roundRect">
            <a:avLst>
              <a:gd name="adj" fmla="val 15009"/>
            </a:avLst>
          </a:prstGeom>
          <a:solidFill>
            <a:srgbClr val="4C5052"/>
          </a:solidFill>
          <a:ln/>
        </p:spPr>
      </p:sp>
      <p:sp>
        <p:nvSpPr>
          <p:cNvPr id="9" name="Shape 6"/>
          <p:cNvSpPr/>
          <p:nvPr/>
        </p:nvSpPr>
        <p:spPr>
          <a:xfrm>
            <a:off x="3254648" y="1844501"/>
            <a:ext cx="372070" cy="372070"/>
          </a:xfrm>
          <a:prstGeom prst="ellipse">
            <a:avLst/>
          </a:prstGeom>
          <a:solidFill>
            <a:srgbClr val="4C505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7665" y="1937519"/>
            <a:ext cx="186035" cy="1860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78622" y="2340546"/>
            <a:ext cx="2386682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2. Missing Is Not Zero — Contradictions Are Not Repaired by Evaluation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378622" y="2996505"/>
            <a:ext cx="238668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Honest semantics beat pretty aggregates. An evaluation layer that heals bad audits is lying for convenience.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199287" y="1782514"/>
            <a:ext cx="2448446" cy="123974"/>
          </a:xfrm>
          <a:prstGeom prst="roundRect">
            <a:avLst>
              <a:gd name="adj" fmla="val 15009"/>
            </a:avLst>
          </a:prstGeom>
          <a:solidFill>
            <a:srgbClr val="4C5052"/>
          </a:solidFill>
          <a:ln/>
        </p:spPr>
      </p:sp>
      <p:sp>
        <p:nvSpPr>
          <p:cNvPr id="14" name="Shape 10"/>
          <p:cNvSpPr/>
          <p:nvPr/>
        </p:nvSpPr>
        <p:spPr>
          <a:xfrm>
            <a:off x="6013252" y="1658466"/>
            <a:ext cx="372070" cy="372070"/>
          </a:xfrm>
          <a:prstGeom prst="ellipse">
            <a:avLst/>
          </a:prstGeom>
          <a:solidFill>
            <a:srgbClr val="4C505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06269" y="1751484"/>
            <a:ext cx="186035" cy="18603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37225" y="2154510"/>
            <a:ext cx="2386608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3. Observability Is Reconstructability Under Authority Boundaries — Not Dashboards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137225" y="3004319"/>
            <a:ext cx="2386608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you cannot walk goal → decision → handoff → child → stop → next action from artefacts, you do not have observability yet, no matter how many panels you ship.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71177"/>
            <a:ext cx="4722763" cy="750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FR-017 Posture — What Senior Engineers Defend</a:t>
            </a:r>
            <a:endParaRPr lang="en-US" sz="2350" dirty="0"/>
          </a:p>
        </p:txBody>
      </p:sp>
      <p:sp>
        <p:nvSpPr>
          <p:cNvPr id="4" name="Shape 1"/>
          <p:cNvSpPr/>
          <p:nvPr/>
        </p:nvSpPr>
        <p:spPr>
          <a:xfrm>
            <a:off x="3925119" y="1296739"/>
            <a:ext cx="4722763" cy="686991"/>
          </a:xfrm>
          <a:prstGeom prst="roundRect">
            <a:avLst>
              <a:gd name="adj" fmla="val 2624"/>
            </a:avLst>
          </a:prstGeom>
          <a:solidFill>
            <a:srgbClr val="4C5052"/>
          </a:solidFill>
          <a:ln/>
        </p:spPr>
      </p:sp>
      <p:sp>
        <p:nvSpPr>
          <p:cNvPr id="5" name="Text 2"/>
          <p:cNvSpPr/>
          <p:nvPr/>
        </p:nvSpPr>
        <p:spPr>
          <a:xfrm>
            <a:off x="4045223" y="1416844"/>
            <a:ext cx="4482554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Separate Evaluation from Runtime Mutation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045223" y="1674391"/>
            <a:ext cx="4482554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 paths load only. They do not start supervisors or mutate pipelines.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925119" y="2100114"/>
            <a:ext cx="4722763" cy="686991"/>
          </a:xfrm>
          <a:prstGeom prst="roundRect">
            <a:avLst>
              <a:gd name="adj" fmla="val 2624"/>
            </a:avLst>
          </a:prstGeom>
          <a:solidFill>
            <a:srgbClr val="4C5052"/>
          </a:solidFill>
          <a:ln/>
        </p:spPr>
      </p:sp>
      <p:sp>
        <p:nvSpPr>
          <p:cNvPr id="8" name="Text 5"/>
          <p:cNvSpPr/>
          <p:nvPr/>
        </p:nvSpPr>
        <p:spPr>
          <a:xfrm>
            <a:off x="4045223" y="2220218"/>
            <a:ext cx="4482554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Refuse Second Sources of Truth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045223" y="2477765"/>
            <a:ext cx="4482554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FR-017 evaluates. FR-015 and FR-016 own their schemas. No twin definitions.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925119" y="2903488"/>
            <a:ext cx="4722763" cy="876226"/>
          </a:xfrm>
          <a:prstGeom prst="roundRect">
            <a:avLst>
              <a:gd name="adj" fmla="val 2057"/>
            </a:avLst>
          </a:prstGeom>
          <a:solidFill>
            <a:srgbClr val="4C5052"/>
          </a:solidFill>
          <a:ln/>
        </p:spPr>
      </p:sp>
      <p:sp>
        <p:nvSpPr>
          <p:cNvPr id="11" name="Text 8"/>
          <p:cNvSpPr/>
          <p:nvPr/>
        </p:nvSpPr>
        <p:spPr>
          <a:xfrm>
            <a:off x="4045223" y="3023592"/>
            <a:ext cx="4482554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Keep Commercial Claims Proportional to Evidence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045223" y="3281139"/>
            <a:ext cx="4482554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near-term product value is stated honestly. Overclaiming is technical debt in product communication.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925119" y="3896097"/>
            <a:ext cx="4722763" cy="876226"/>
          </a:xfrm>
          <a:prstGeom prst="roundRect">
            <a:avLst>
              <a:gd name="adj" fmla="val 2057"/>
            </a:avLst>
          </a:prstGeom>
          <a:solidFill>
            <a:srgbClr val="4C5052"/>
          </a:solidFill>
          <a:ln/>
        </p:spPr>
      </p:sp>
      <p:sp>
        <p:nvSpPr>
          <p:cNvPr id="14" name="Text 11"/>
          <p:cNvSpPr/>
          <p:nvPr/>
        </p:nvSpPr>
        <p:spPr>
          <a:xfrm>
            <a:off x="4045223" y="4016201"/>
            <a:ext cx="4482554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Leave Adjacent Horizons Unblocked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045223" y="4273748"/>
            <a:ext cx="4482554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work not on the critical path must not gate acquisition work. Sequencing discipline is an engineering principle.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Architecture at a Glance</a:t>
            </a:r>
            <a:endParaRPr lang="en-US" sz="1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596950"/>
            <a:ext cx="73152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746575"/>
            <a:ext cx="860896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FR-017 sits at the centre of evaluation — consuming from FR-016, reusing from FR-015, and presenting through a thin read-only CLI. It touches adjacent FRs only to cite status, never to own their data.</a:t>
            </a:r>
            <a:endParaRPr lang="en-US" sz="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Interview-Ready Story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89136" y="631775"/>
            <a:ext cx="8515945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"we built observability" — but "we made orchestration audits evaluable: honestly, narrowly, and without theatre."</a:t>
            </a:r>
            <a:endParaRPr lang="en-US" sz="450" dirty="0"/>
          </a:p>
        </p:txBody>
      </p:sp>
      <p:sp>
        <p:nvSpPr>
          <p:cNvPr id="4" name="Shape 2"/>
          <p:cNvSpPr/>
          <p:nvPr/>
        </p:nvSpPr>
        <p:spPr>
          <a:xfrm>
            <a:off x="496119" y="596950"/>
            <a:ext cx="9525" cy="143991"/>
          </a:xfrm>
          <a:prstGeom prst="roundRect">
            <a:avLst>
              <a:gd name="adj" fmla="val 50000"/>
            </a:avLst>
          </a:prstGeom>
          <a:solidFill>
            <a:srgbClr val="AC9EF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980" y="775767"/>
            <a:ext cx="7418040" cy="39290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90033" y="3583858"/>
            <a:ext cx="1834105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Engineering Problem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759608" y="3878334"/>
            <a:ext cx="1964531" cy="275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78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Audits existed but were not evaluable.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72694" y="1326890"/>
            <a:ext cx="1834105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Chosen Architecture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42269" y="1621366"/>
            <a:ext cx="1964530" cy="275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78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Derive-only R1–R12, read-only CLI.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44122" y="1326890"/>
            <a:ext cx="1834105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44122" y="1621366"/>
            <a:ext cx="1964531" cy="275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15/15 GO, deterministic, no instrumentation.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137006" y="3583986"/>
            <a:ext cx="1834105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Engineering Posture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137006" y="3878461"/>
            <a:ext cx="1964530" cy="275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Honest, narrow, Horizon 1B unblocked.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96119" y="4739655"/>
            <a:ext cx="860896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FR-017 is a small system with a large teaching surface. It freezes a posture that senior engineers are asked to defend verbally in interviews: separate evaluation from runtime mutation, refuse second sources of truth, keep commercial claims proportional to evidence.</a:t>
            </a:r>
            <a:endParaRPr lang="en-US" sz="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1163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Memorable Closing Statement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184746"/>
            <a:ext cx="8151763" cy="775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Derive the truth</a:t>
            </a:r>
            <a:endParaRPr lang="en-US" sz="4850" dirty="0"/>
          </a:p>
        </p:txBody>
      </p:sp>
      <p:sp>
        <p:nvSpPr>
          <p:cNvPr id="4" name="Text 2"/>
          <p:cNvSpPr/>
          <p:nvPr/>
        </p:nvSpPr>
        <p:spPr>
          <a:xfrm>
            <a:off x="496119" y="2146027"/>
            <a:ext cx="8151763" cy="534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you already have —</a:t>
            </a:r>
            <a:endParaRPr lang="en-US" sz="3350" dirty="0"/>
          </a:p>
        </p:txBody>
      </p:sp>
      <p:sp>
        <p:nvSpPr>
          <p:cNvPr id="5" name="Text 3"/>
          <p:cNvSpPr/>
          <p:nvPr/>
        </p:nvSpPr>
        <p:spPr>
          <a:xfrm>
            <a:off x="267519" y="2866951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you instrument a truth you wish you had.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3235896"/>
            <a:ext cx="8151763" cy="14288"/>
          </a:xfrm>
          <a:prstGeom prst="roundRect">
            <a:avLst>
              <a:gd name="adj" fmla="val 49998"/>
            </a:avLst>
          </a:prstGeom>
          <a:solidFill>
            <a:srgbClr val="D6D9D7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3420666"/>
            <a:ext cx="2634555" cy="1111597"/>
          </a:xfrm>
          <a:prstGeom prst="roundRect">
            <a:avLst>
              <a:gd name="adj" fmla="val 1674"/>
            </a:avLst>
          </a:prstGeom>
          <a:solidFill>
            <a:srgbClr val="4C5052"/>
          </a:solidFill>
          <a:ln/>
        </p:spPr>
      </p:sp>
      <p:sp>
        <p:nvSpPr>
          <p:cNvPr id="8" name="Text 6"/>
          <p:cNvSpPr/>
          <p:nvPr/>
        </p:nvSpPr>
        <p:spPr>
          <a:xfrm>
            <a:off x="620092" y="3544639"/>
            <a:ext cx="238660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FR-017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0092" y="3812902"/>
            <a:ext cx="238660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Evaluation &amp; Observability — Complete / Frozen / Accepted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54648" y="3420666"/>
            <a:ext cx="2634630" cy="1111597"/>
          </a:xfrm>
          <a:prstGeom prst="roundRect">
            <a:avLst>
              <a:gd name="adj" fmla="val 1674"/>
            </a:avLst>
          </a:prstGeom>
          <a:solidFill>
            <a:srgbClr val="4C5052"/>
          </a:solidFill>
          <a:ln/>
        </p:spPr>
      </p:sp>
      <p:sp>
        <p:nvSpPr>
          <p:cNvPr id="11" name="Text 9"/>
          <p:cNvSpPr/>
          <p:nvPr/>
        </p:nvSpPr>
        <p:spPr>
          <a:xfrm>
            <a:off x="3378622" y="3544639"/>
            <a:ext cx="23866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Engineering Learning Academy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78622" y="3812902"/>
            <a:ext cx="238668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Lean Edition Masterclass — canonical acceptance report and ADR-009 remain authoritative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13252" y="3420666"/>
            <a:ext cx="2634555" cy="1111597"/>
          </a:xfrm>
          <a:prstGeom prst="roundRect">
            <a:avLst>
              <a:gd name="adj" fmla="val 1674"/>
            </a:avLst>
          </a:prstGeom>
          <a:solidFill>
            <a:srgbClr val="4C5052"/>
          </a:solidFill>
          <a:ln/>
        </p:spPr>
      </p:sp>
      <p:sp>
        <p:nvSpPr>
          <p:cNvPr id="14" name="Text 12"/>
          <p:cNvSpPr/>
          <p:nvPr/>
        </p:nvSpPr>
        <p:spPr>
          <a:xfrm>
            <a:off x="6137225" y="3544639"/>
            <a:ext cx="238660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Audience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37225" y="3812902"/>
            <a:ext cx="238660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Experienced software engineers preparing for technical interviews on multi-agent systems and observability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2026-08-07T01:52:23Z</dcterms:created>
  <dcterms:modified xsi:type="dcterms:W3CDTF">2026-08-07T01:52:23Z</dcterms:modified>
</cp:coreProperties>
</file>