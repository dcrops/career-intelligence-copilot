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"/>
      <p:regular r:id="rId201314"/>
    </p:embeddedFont>
    <p:embeddedFont>
      <p:font typeface="DM Sans Medium"/>
      <p:regular r:id="rId201315"/>
    </p:embeddedFont>
    <p:embeddedFont>
      <p:font typeface="DM Sans Bold"/>
      <p:regular r:id="rId201316"/>
    </p:embeddedFont>
    <p:embeddedFont>
      <p:font typeface="Inter Medium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2.png"/><Relationship Id="rId9" Type="http://schemas.openxmlformats.org/officeDocument/2006/relationships/image" Target="../media/image-6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240259"/>
            <a:ext cx="1771352" cy="188565"/>
          </a:xfrm>
          <a:prstGeom prst="roundRect">
            <a:avLst>
              <a:gd name="adj" fmla="val 7894"/>
            </a:avLst>
          </a:prstGeom>
          <a:solidFill>
            <a:srgbClr val="110745"/>
          </a:solidFill>
          <a:ln/>
        </p:spPr>
      </p:sp>
      <p:sp>
        <p:nvSpPr>
          <p:cNvPr id="4" name="Text 1"/>
          <p:cNvSpPr/>
          <p:nvPr/>
        </p:nvSpPr>
        <p:spPr>
          <a:xfrm>
            <a:off x="3999533" y="1277466"/>
            <a:ext cx="2079724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MASTERCLASS 001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1478384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Career Intelligence Copilot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925119" y="2051968"/>
            <a:ext cx="4722763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FR-016: Multi-Agent Orchestration</a:t>
            </a:r>
            <a:endParaRPr lang="en-US" sz="3350" dirty="0"/>
          </a:p>
        </p:txBody>
      </p:sp>
      <p:sp>
        <p:nvSpPr>
          <p:cNvPr id="7" name="Text 4"/>
          <p:cNvSpPr/>
          <p:nvPr/>
        </p:nvSpPr>
        <p:spPr>
          <a:xfrm>
            <a:off x="3925119" y="3307779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authority boundaries — not role names — justify when to introduce multiple AI specialists. An engineering deep-dive for experienced software and AI engineers.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95040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Engineering Problem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368623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FR-015 already solved everyday preparation. FR-016 asked a fundamentally different question: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82154" y="2044601"/>
            <a:ext cx="453672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does adding a second specialist create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 engineering value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and when does it just add complexity?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96119" y="1905074"/>
            <a:ext cx="14288" cy="675977"/>
          </a:xfrm>
          <a:prstGeom prst="roundRect">
            <a:avLst>
              <a:gd name="adj" fmla="val 49998"/>
            </a:avLst>
          </a:prstGeom>
          <a:solidFill>
            <a:srgbClr val="AC9EF5"/>
          </a:solidFill>
          <a:ln/>
        </p:spPr>
      </p:sp>
      <p:sp>
        <p:nvSpPr>
          <p:cNvPr id="7" name="Shape 4"/>
          <p:cNvSpPr/>
          <p:nvPr/>
        </p:nvSpPr>
        <p:spPr>
          <a:xfrm>
            <a:off x="496119" y="2720578"/>
            <a:ext cx="4722763" cy="1627808"/>
          </a:xfrm>
          <a:prstGeom prst="roundRect">
            <a:avLst>
              <a:gd name="adj" fmla="val 1143"/>
            </a:avLst>
          </a:prstGeom>
          <a:solidFill>
            <a:srgbClr val="4C5052"/>
          </a:solidFill>
          <a:ln/>
        </p:spPr>
      </p:sp>
      <p:sp>
        <p:nvSpPr>
          <p:cNvPr id="8" name="Shape 5"/>
          <p:cNvSpPr/>
          <p:nvPr/>
        </p:nvSpPr>
        <p:spPr>
          <a:xfrm>
            <a:off x="496119" y="2720578"/>
            <a:ext cx="4722763" cy="714673"/>
          </a:xfrm>
          <a:custGeom>
            <a:avLst/>
            <a:gdLst/>
            <a:ahLst/>
            <a:cxnLst/>
            <a:rect l="l" t="t" r="r" b="b"/>
            <a:pathLst>
              <a:path w="4722763" h="714673">
                <a:moveTo>
                  <a:pt x="15506" y="0"/>
                </a:moveTo>
                <a:lnTo>
                  <a:pt x="4707257" y="0"/>
                </a:lnTo>
                <a:arcTo hR="15506" wR="15506" stAng="16200000" swAng="5400000"/>
                <a:lnTo>
                  <a:pt x="4722763" y="714673"/>
                </a:lnTo>
                <a:lnTo>
                  <a:pt x="0" y="714673"/>
                </a:lnTo>
                <a:lnTo>
                  <a:pt x="0" y="15506"/>
                </a:lnTo>
                <a:arcTo hR="15506" wR="15506" stAng="10800000" swAng="5400000"/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620092" y="2844552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FR-015 Solved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0092" y="3112815"/>
            <a:ext cx="44748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Everyday preparation with a single bounded agent. Simple, direct, effective.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3435251"/>
            <a:ext cx="4722763" cy="913135"/>
          </a:xfrm>
          <a:custGeom>
            <a:avLst/>
            <a:gdLst/>
            <a:ahLst/>
            <a:cxnLst/>
            <a:rect l="l" t="t" r="r" b="b"/>
            <a:pathLst>
              <a:path w="4722763" h="913135">
                <a:moveTo>
                  <a:pt x="0" y="0"/>
                </a:moveTo>
                <a:lnTo>
                  <a:pt x="4722763" y="0"/>
                </a:lnTo>
                <a:lnTo>
                  <a:pt x="4722763" y="897629"/>
                </a:lnTo>
                <a:arcTo hR="15506" wR="15506" stAng="0" swAng="5400000"/>
                <a:lnTo>
                  <a:pt x="15506" y="913135"/>
                </a:lnTo>
                <a:arcTo hR="15506" wR="15506" stAng="5400000" swAng="5400000"/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12" name="Shape 9"/>
          <p:cNvSpPr/>
          <p:nvPr/>
        </p:nvSpPr>
        <p:spPr>
          <a:xfrm>
            <a:off x="496119" y="3435251"/>
            <a:ext cx="4722763" cy="14288"/>
          </a:xfrm>
          <a:prstGeom prst="roundRect">
            <a:avLst>
              <a:gd name="adj" fmla="val 49998"/>
            </a:avLst>
          </a:prstGeom>
          <a:solidFill>
            <a:srgbClr val="65696B"/>
          </a:solidFill>
          <a:ln/>
        </p:spPr>
      </p:sp>
      <p:sp>
        <p:nvSpPr>
          <p:cNvPr id="13" name="Text 10"/>
          <p:cNvSpPr/>
          <p:nvPr/>
        </p:nvSpPr>
        <p:spPr>
          <a:xfrm>
            <a:off x="620092" y="3559225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FR-016 Asked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0092" y="3827487"/>
            <a:ext cx="44748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is multi-agent orchestration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genuinely justified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engineering constraints, not just appealing in theory?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Wrong Answer: "Multi-Agent Theatre"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96950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tempting design: split by persona — Preparation Agent, Truth Agent, Review Agent. It feels sophisticated. It adds nothing real.</a:t>
            </a:r>
            <a:endParaRPr lang="en-US" sz="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6115"/>
            <a:ext cx="73152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4855741"/>
            <a:ext cx="8151763" cy="169143"/>
          </a:xfrm>
          <a:prstGeom prst="roundRect">
            <a:avLst>
              <a:gd name="adj" fmla="val 5500"/>
            </a:avLst>
          </a:prstGeom>
          <a:solidFill>
            <a:srgbClr val="4B3F0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05" y="4933206"/>
            <a:ext cx="77465" cy="619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7557" y="4902175"/>
            <a:ext cx="8345537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insight: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Role names are not authority boundaries. If every agent can do everything, you haven't added specialists — you've added indirection.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Engineering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96950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accepted solution separates three concerns, each justified by a distinct 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authority boundary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not a job title.</a:t>
            </a:r>
            <a:endParaRPr lang="en-US" sz="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151" y="706115"/>
            <a:ext cx="6629623" cy="43063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21249" y="1012806"/>
            <a:ext cx="1964551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Identify Authority Boundaries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21249" y="1536550"/>
            <a:ext cx="1964551" cy="27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distinct authority limits, not job roles.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642323" y="3906646"/>
            <a:ext cx="1859089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Assign One Specialist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89592" y="4201125"/>
            <a:ext cx="1964550" cy="27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coordinates, BOPA prepares, OBS briefs.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57934" y="1012806"/>
            <a:ext cx="1964551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Validate Unique Permissions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57934" y="1536550"/>
            <a:ext cx="1964551" cy="27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each specialist has others' exclusive access.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96119" y="5047283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Coordination, bounded preparation, and read-only synthesis are three genuinely different engineering concerns. Each requires different permissions. That difference is what justifies three specialists.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Final Architecture: DOS + BOPA + OBS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596950"/>
            <a:ext cx="73152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4746575"/>
            <a:ext cx="2696617" cy="407194"/>
          </a:xfrm>
          <a:prstGeom prst="roundRect">
            <a:avLst>
              <a:gd name="adj" fmla="val 2285"/>
            </a:avLst>
          </a:prstGeom>
          <a:solidFill>
            <a:srgbClr val="2D3133"/>
          </a:solidFill>
          <a:ln w="9525">
            <a:solidFill>
              <a:srgbClr val="6569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7630" y="4818087"/>
            <a:ext cx="2553593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DOS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567630" y="4933578"/>
            <a:ext cx="255359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Coordinates without inheriting permissions. Observes, delegates, audits, stops.</a:t>
            </a:r>
            <a:endParaRPr lang="en-US" sz="450" dirty="0"/>
          </a:p>
        </p:txBody>
      </p:sp>
      <p:sp>
        <p:nvSpPr>
          <p:cNvPr id="7" name="Shape 4"/>
          <p:cNvSpPr/>
          <p:nvPr/>
        </p:nvSpPr>
        <p:spPr>
          <a:xfrm>
            <a:off x="3223692" y="4746575"/>
            <a:ext cx="2696617" cy="407194"/>
          </a:xfrm>
          <a:prstGeom prst="roundRect">
            <a:avLst>
              <a:gd name="adj" fmla="val 2285"/>
            </a:avLst>
          </a:prstGeom>
          <a:solidFill>
            <a:srgbClr val="2D3133"/>
          </a:solidFill>
          <a:ln w="9525">
            <a:solidFill>
              <a:srgbClr val="6569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95204" y="4818087"/>
            <a:ext cx="2553593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BOPA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3295204" y="4933578"/>
            <a:ext cx="255359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 preparation, verification, and truth validation. The primary working agent.</a:t>
            </a:r>
            <a:endParaRPr lang="en-US" sz="450" dirty="0"/>
          </a:p>
        </p:txBody>
      </p:sp>
      <p:sp>
        <p:nvSpPr>
          <p:cNvPr id="10" name="Shape 7"/>
          <p:cNvSpPr/>
          <p:nvPr/>
        </p:nvSpPr>
        <p:spPr>
          <a:xfrm>
            <a:off x="5951265" y="4746575"/>
            <a:ext cx="2696617" cy="407194"/>
          </a:xfrm>
          <a:prstGeom prst="roundRect">
            <a:avLst>
              <a:gd name="adj" fmla="val 2285"/>
            </a:avLst>
          </a:prstGeom>
          <a:solidFill>
            <a:srgbClr val="2D3133"/>
          </a:solidFill>
          <a:ln w="9525">
            <a:solidFill>
              <a:srgbClr val="6569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22777" y="4818087"/>
            <a:ext cx="2553593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OBS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022777" y="4933578"/>
            <a:ext cx="2553593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operational synthesis. Independent analysis that cannot modify assessed state.</a:t>
            </a:r>
            <a:endParaRPr lang="en-US" sz="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60387"/>
            <a:ext cx="4722763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Engineering Principles</a:t>
            </a:r>
            <a:endParaRPr lang="en-US" sz="2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898847"/>
            <a:ext cx="4722763" cy="88656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726" y="1031304"/>
            <a:ext cx="4400699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Authority boundaries justify specialists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114726" y="1283568"/>
            <a:ext cx="4400699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Distinct permissions — not distinct responsibilities — are the engineering justification for introducing another agent.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898079"/>
            <a:ext cx="4722763" cy="88656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4726" y="2030537"/>
            <a:ext cx="4400699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Supervisors coordinate, not execute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114726" y="2282800"/>
            <a:ext cx="4400699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supervisor that inherits domain permissions collapses the boundary it was meant to enforce.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2897312"/>
            <a:ext cx="4722763" cy="88656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14726" y="3029769"/>
            <a:ext cx="4400699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Typed handoffs beat conversational delegation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114726" y="3282032"/>
            <a:ext cx="4400699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state transfers are safer and more auditable than natural-language routing between agents.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896544"/>
            <a:ext cx="4722763" cy="88656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114726" y="4029001"/>
            <a:ext cx="4400699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Deterministic orchestration when routing is knowable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4114726" y="4281264"/>
            <a:ext cx="4400699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routing decision can be expressed from typed state, make it deterministic — not learned.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314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Trade-offs &amp; Validation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716732"/>
            <a:ext cx="4103191" cy="2283544"/>
          </a:xfrm>
          <a:prstGeom prst="roundRect">
            <a:avLst>
              <a:gd name="adj" fmla="val 815"/>
            </a:avLst>
          </a:prstGeom>
          <a:solidFill>
            <a:srgbClr val="AC9EF5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840706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Was Validated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2158529"/>
            <a:ext cx="3855244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deterministic orchestration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 isolation between specialists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handoff safety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OBS independence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1840706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Was Intentionally Limited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2158529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value was not the goal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BOPA remains the preferred daily workflow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 is a validated foundation, not a product launch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28046" y="2980209"/>
            <a:ext cx="3924598" cy="880542"/>
          </a:xfrm>
          <a:prstGeom prst="roundRect">
            <a:avLst>
              <a:gd name="adj" fmla="val 2113"/>
            </a:avLst>
          </a:prstGeom>
          <a:solidFill>
            <a:srgbClr val="1D0C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020" y="3169518"/>
            <a:ext cx="155004" cy="1239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30998" y="3122786"/>
            <a:ext cx="33976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Engineering outcome: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Success.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outcome: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Intentionally limited. Technical success does not automatically justify product adoption.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13159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Employers Care About These Concepts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474291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FR-016 demonstrates engineering judgment that goes beyond implementation skill. These are the signals interviewers are actually testing.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010742"/>
            <a:ext cx="248022" cy="24802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9145" y="2053382"/>
            <a:ext cx="4319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Authority Separation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99145" y="2321644"/>
            <a:ext cx="431973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you design systems where components have genuinely different permissions — not just different names?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966591"/>
            <a:ext cx="248022" cy="24802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9145" y="3009230"/>
            <a:ext cx="4319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Choosing Determinism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99145" y="3277493"/>
            <a:ext cx="431973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you reach for ML when a typed-state decision is sufficient? Knowing when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use AI is a senior skill.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922440"/>
            <a:ext cx="248022" cy="24802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9145" y="3965079"/>
            <a:ext cx="4319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Complexity Discipline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99145" y="4233342"/>
            <a:ext cx="431973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you justify every layer of indirection? Simpler architectures remain preferable until complexity earns its place.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313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Interview Preparation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8870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the four questions FR-016 prepares you to answer confidently.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226692"/>
            <a:ext cx="279053" cy="279053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5" name="Text 3"/>
          <p:cNvSpPr/>
          <p:nvPr/>
        </p:nvSpPr>
        <p:spPr>
          <a:xfrm>
            <a:off x="542627" y="2249946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9145" y="2269331"/>
            <a:ext cx="35953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introduce multiple agents?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9145" y="2537594"/>
            <a:ext cx="35953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separate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authority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merely responsibilities. Authority boundaries are the engineering justification.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49465" y="2226692"/>
            <a:ext cx="279053" cy="279053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9" name="Text 7"/>
          <p:cNvSpPr/>
          <p:nvPr/>
        </p:nvSpPr>
        <p:spPr>
          <a:xfrm>
            <a:off x="4695974" y="2249946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52492" y="2269331"/>
            <a:ext cx="3595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is DOS deterministic?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52492" y="2537594"/>
            <a:ext cx="35953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was fully expressible from typed state. Determinism improves safety and repeatability over learned routing.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182541"/>
            <a:ext cx="279053" cy="279053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3" name="Text 11"/>
          <p:cNvSpPr/>
          <p:nvPr/>
        </p:nvSpPr>
        <p:spPr>
          <a:xfrm>
            <a:off x="542627" y="3205795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9145" y="3225180"/>
            <a:ext cx="35953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is OBS read-only?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9145" y="3493443"/>
            <a:ext cx="35953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analysis is stronger when it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cannot modify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state being assessed. Write access corrupts objectivity.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49465" y="3182541"/>
            <a:ext cx="279053" cy="279053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7" name="Text 15"/>
          <p:cNvSpPr/>
          <p:nvPr/>
        </p:nvSpPr>
        <p:spPr>
          <a:xfrm>
            <a:off x="4695974" y="3205795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052492" y="3225180"/>
            <a:ext cx="3595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wasn't orchestration made the default?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52492" y="3493443"/>
            <a:ext cx="35953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BOPA remained simpler for everyday preparation. Added complexity must earn its place.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9008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Three Things To Remember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96119" y="972592"/>
            <a:ext cx="2299395" cy="1702371"/>
          </a:xfrm>
          <a:prstGeom prst="roundRect">
            <a:avLst>
              <a:gd name="adj" fmla="val 1093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620092" y="1096566"/>
            <a:ext cx="20514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① Authority Boundaries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0092" y="1364828"/>
            <a:ext cx="205144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Specialists are justified by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authority boundaries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distinct permissions — not by role names or responsibilities.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19487" y="972592"/>
            <a:ext cx="2299395" cy="1702371"/>
          </a:xfrm>
          <a:prstGeom prst="roundRect">
            <a:avLst>
              <a:gd name="adj" fmla="val 1093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3043461" y="1096566"/>
            <a:ext cx="205144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② Coordinate, Don't Execute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43461" y="1558677"/>
            <a:ext cx="2051447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coordinate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rather than execute. A supervisor that inherits domain permissions collapses the boundary it enforces.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96119" y="2798936"/>
            <a:ext cx="4722763" cy="913135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620092" y="2922910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③ Simpler Is Preferable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0092" y="3191173"/>
            <a:ext cx="44748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Simpler architectures remain preferable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until additional complexity earns its place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Technical success ≠ product adoption.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6119" y="3851597"/>
            <a:ext cx="4722763" cy="892894"/>
          </a:xfrm>
          <a:prstGeom prst="roundRect">
            <a:avLst>
              <a:gd name="adj" fmla="val 2084"/>
            </a:avLst>
          </a:prstGeom>
          <a:solidFill>
            <a:srgbClr val="1D0C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92" y="4031382"/>
            <a:ext cx="155004" cy="1239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99071" y="4006528"/>
            <a:ext cx="419583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FR-016 Milestone: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 AS LEARNING PROOF ONLY — direct BOPA remains the preferred daily workflow while orchestration provides a validated architectural foundation.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2026-08-06T07:40:54Z</dcterms:created>
  <dcterms:modified xsi:type="dcterms:W3CDTF">2026-08-06T07:40:54Z</dcterms:modified>
</cp:coreProperties>
</file>